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</p:sldIdLst>
  <p:sldSz cx="18288000" cy="10287000"/>
  <p:notesSz cx="6858000" cy="9144000"/>
  <p:embeddedFontLst>
    <p:embeddedFont>
      <p:font typeface="Times New Roman Bold" charset="1" panose="02020803070505020304"/>
      <p:regular r:id="rId21"/>
    </p:embeddedFont>
    <p:embeddedFont>
      <p:font typeface="Times New Roman" charset="1" panose="020206030504050203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выступления: ровно 5 слайдов, общий титульный отдельно. Срез: 16.10.2026.</a:t>
            </a:r>
          </a:p>
          <a:p>
            <a:r>
              <a:t>Источники:</a:t>
            </a:r>
          </a:p>
          <a:p>
            <a:r>
              <a:t>https://kase.kz/files/reports/Annual_report_2025.pdf</a:t>
            </a:r>
          </a:p>
          <a:p>
            <a:r>
              <a:t>https://kase.kz/files/reports/KASE_meeting_2023_en.pdf</a:t>
            </a:r>
          </a:p>
          <a:p>
            <a:r>
              <a:t>https://kase.kz/uploads/kasef6_2024_cons_0b310589ea.pdf</a:t>
            </a:r>
          </a:p>
          <a:p>
            <a:r>
              <a:t>https://kase.kz/ru/about/stockholders</a:t>
            </a:r>
          </a:p>
          <a:p>
            <a:r>
              <a:t>https://kase.kz/en/about/management</a:t>
            </a:r>
          </a:p>
          <a:p>
            <a:r>
              <a:t>https://kase.kz/ru/information/news/show/1572362</a:t>
            </a:r>
          </a:p>
          <a:p>
            <a:r>
              <a:t>https://kase.kz/en/media-center/events/ltor268etv7q7gcorbzoxwt1</a:t>
            </a:r>
          </a:p>
          <a:p>
            <a:r>
              <a:t>https://kase.kz/ru/information/news/show/1571365</a:t>
            </a:r>
          </a:p>
          <a:p>
            <a:r>
              <a:t>https://kase.kz/en/information/news/show/1548644</a:t>
            </a:r>
          </a:p>
          <a:p>
            <a:r>
              <a:t>https://kase.kz/ru/about/committees-and-commissions</a:t>
            </a:r>
          </a:p>
          <a:p>
            <a:r>
              <a:t>https://kase.kz/kz/information/news/show/1561424</a:t>
            </a:r>
          </a:p>
          <a:p>
            <a:r>
              <a:t>https://kase.kz/ru/information/news/show/1538714/</a:t>
            </a:r>
          </a:p>
          <a:p>
            <a:r>
              <a:t>https://kase.kz/ru/information/news/show/1530627/</a:t>
            </a:r>
          </a:p>
          <a:p>
            <a:r>
              <a:t>https://home.treasury.gov/news/press-releases/jy2404</a:t>
            </a:r>
          </a:p>
          <a:p>
            <a:r>
              <a:t>https://kapital.kz/finance/130606/alina-aldambergen-my-ne-znayem-na-kakikh-usloviyakh-mosbirzha-prodala-svoi-aktsii.html</a:t>
            </a:r>
          </a:p>
          <a:p>
            <a:r>
              <a:t>https://kapital.kz/finance/122407/alina-aldambergen-za-5-let-chistaya-pribyl-kase-vyrosla-v-9-raz.html</a:t>
            </a:r>
          </a:p>
          <a:p>
            <a:r>
              <a:t>https://kapital.kz/finance/128108/novyy-kholding-po-razvitiyu-fondovogo-rynka-mozhet-poyavit-sya-v-kazakhstane.html</a:t>
            </a:r>
          </a:p>
          <a:p>
            <a:r>
              <a:t>https://forbes.kz/articles/zachem-kase-prisvoili-status-operatora-tsifrovyh-aktivov/amp</a:t>
            </a:r>
          </a:p>
          <a:p>
            <a:r>
              <a:t>https://forbes.kz/articles/kogda-na-kase-poyavitsya-vozmozhnost-torgovat-tokenami-d6a8bc/amp</a:t>
            </a:r>
          </a:p>
          <a:p>
            <a:r>
              <a:t>https://kz.kursiv.media/2026-06-24/fvfv-pravlenie-kase-zarabotalo-394-mln-tenge-eto-72-goda-raboty-obychnogo-kazahstanca/</a:t>
            </a:r>
          </a:p>
          <a:p>
            <a:r>
              <a:t>https://tengrinews.kz/money/natsbank-nazval-razmer-premiy-iz-za-kotoryih-oshtrafovali-604714/amp/</a:t>
            </a:r>
          </a:p>
          <a:p>
            <a:r>
              <a:t>https://orda.kz/v-nacbanke-prokommentirovali-shtraf-za-premii-sotrudnikam-417144/</a:t>
            </a:r>
          </a:p>
          <a:p>
            <a:r>
              <a:t>https://forbes.kz/articles/v-pravlenii-kase-proizoshli-izmeneniya-a87929</a:t>
            </a:r>
          </a:p>
          <a:p>
            <a:r>
              <a:t>https://www.reuters.com/markets/europe/moscow-exchange-stop-trading-dollars-after-latest-us-sanctions-2024-06-12/</a:t>
            </a:r>
          </a:p>
          <a:p>
            <a:r>
              <a:t>https://doi.org/10.1016/S1386-4181(01)00024-6</a:t>
            </a:r>
          </a:p>
          <a:p>
            <a:r>
              <a:t>https://doi.org/10.1111/j.1540-6261.2008.01312.x</a:t>
            </a:r>
          </a:p>
          <a:p>
            <a:r>
              <a:t>https://www.bis.org/cpmi/publ/d101a.pdf</a:t>
            </a:r>
          </a:p>
          <a:p>
            <a:r>
              <a:t>https://kase.kz/files/reports/KASE_meeting_2024_eng.pdf</a:t>
            </a:r>
          </a:p>
          <a:p>
            <a:r>
              <a:t>https://kase.kz/en/information/news/show/1544033</a:t>
            </a:r>
          </a:p>
          <a:p>
            <a:r>
              <a:t>https://nationalbank.kz/ru/news/press-relizy/20266</a:t>
            </a:r>
          </a:p>
          <a:p>
            <a:r>
              <a:t>https://nationalbank.kz/ru/news/informacionnye-soobshcheniya/20360</a:t>
            </a:r>
          </a:p>
          <a:p>
            <a:r>
              <a:t>https://nationalbank.kz/en/news/informacionnye-soobshcheniya/19799</a:t>
            </a:r>
          </a:p>
          <a:p>
            <a:r>
              <a:t>https://kase.kz/en/information/news/show/1574002</a:t>
            </a:r>
          </a:p>
          <a:p>
            <a:r>
              <a:t>https://kase.kz/ru/information/news/show/1577752</a:t>
            </a:r>
          </a:p>
          <a:p>
            <a:r>
              <a:t>https://kase.kz/ru/information/news/show/1577739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выступления: ровно 5 слайдов, общий титульный отдельно. Срез: 16.10.2026.</a:t>
            </a:r>
          </a:p>
          <a:p>
            <a:r>
              <a:t>Источники:</a:t>
            </a:r>
          </a:p>
          <a:p>
            <a:r>
              <a:t>https://kase.kz/files/reports/Annual_report_2025.pdf</a:t>
            </a:r>
          </a:p>
          <a:p>
            <a:r>
              <a:t>https://kase.kz/files/reports/KASE_meeting_2023_en.pdf</a:t>
            </a:r>
          </a:p>
          <a:p>
            <a:r>
              <a:t>https://kase.kz/uploads/kasef6_2024_cons_0b310589ea.pdf</a:t>
            </a:r>
          </a:p>
          <a:p>
            <a:r>
              <a:t>https://kase.kz/ru/about/stockholders</a:t>
            </a:r>
          </a:p>
          <a:p>
            <a:r>
              <a:t>https://kase.kz/en/about/management</a:t>
            </a:r>
          </a:p>
          <a:p>
            <a:r>
              <a:t>https://kase.kz/ru/information/news/show/1572362</a:t>
            </a:r>
          </a:p>
          <a:p>
            <a:r>
              <a:t>https://kase.kz/en/media-center/events/ltor268etv7q7gcorbzoxwt1</a:t>
            </a:r>
          </a:p>
          <a:p>
            <a:r>
              <a:t>https://kase.kz/ru/information/news/show/1571365</a:t>
            </a:r>
          </a:p>
          <a:p>
            <a:r>
              <a:t>https://kase.kz/en/information/news/show/1548644</a:t>
            </a:r>
          </a:p>
          <a:p>
            <a:r>
              <a:t>https://kase.kz/ru/about/committees-and-commissions</a:t>
            </a:r>
          </a:p>
          <a:p>
            <a:r>
              <a:t>https://kase.kz/kz/information/news/show/1561424</a:t>
            </a:r>
          </a:p>
          <a:p>
            <a:r>
              <a:t>https://kase.kz/ru/information/news/show/1538714/</a:t>
            </a:r>
          </a:p>
          <a:p>
            <a:r>
              <a:t>https://kase.kz/ru/information/news/show/1530627/</a:t>
            </a:r>
          </a:p>
          <a:p>
            <a:r>
              <a:t>https://home.treasury.gov/news/press-releases/jy2404</a:t>
            </a:r>
          </a:p>
          <a:p>
            <a:r>
              <a:t>https://kapital.kz/finance/130606/alina-aldambergen-my-ne-znayem-na-kakikh-usloviyakh-mosbirzha-prodala-svoi-aktsii.html</a:t>
            </a:r>
          </a:p>
          <a:p>
            <a:r>
              <a:t>https://kapital.kz/finance/122407/alina-aldambergen-za-5-let-chistaya-pribyl-kase-vyrosla-v-9-raz.html</a:t>
            </a:r>
          </a:p>
          <a:p>
            <a:r>
              <a:t>https://kapital.kz/finance/128108/novyy-kholding-po-razvitiyu-fondovogo-rynka-mozhet-poyavit-sya-v-kazakhstane.html</a:t>
            </a:r>
          </a:p>
          <a:p>
            <a:r>
              <a:t>https://forbes.kz/articles/zachem-kase-prisvoili-status-operatora-tsifrovyh-aktivov/amp</a:t>
            </a:r>
          </a:p>
          <a:p>
            <a:r>
              <a:t>https://forbes.kz/articles/kogda-na-kase-poyavitsya-vozmozhnost-torgovat-tokenami-d6a8bc/amp</a:t>
            </a:r>
          </a:p>
          <a:p>
            <a:r>
              <a:t>https://kz.kursiv.media/2026-06-24/fvfv-pravlenie-kase-zarabotalo-394-mln-tenge-eto-72-goda-raboty-obychnogo-kazahstanca/</a:t>
            </a:r>
          </a:p>
          <a:p>
            <a:r>
              <a:t>https://tengrinews.kz/money/natsbank-nazval-razmer-premiy-iz-za-kotoryih-oshtrafovali-604714/amp/</a:t>
            </a:r>
          </a:p>
          <a:p>
            <a:r>
              <a:t>https://orda.kz/v-nacbanke-prokommentirovali-shtraf-za-premii-sotrudnikam-417144/</a:t>
            </a:r>
          </a:p>
          <a:p>
            <a:r>
              <a:t>https://forbes.kz/articles/v-pravlenii-kase-proizoshli-izmeneniya-a87929</a:t>
            </a:r>
          </a:p>
          <a:p>
            <a:r>
              <a:t>https://www.reuters.com/markets/europe/moscow-exchange-stop-trading-dollars-after-latest-us-sanctions-2024-06-12/</a:t>
            </a:r>
          </a:p>
          <a:p>
            <a:r>
              <a:t>https://doi.org/10.1016/S1386-4181(01)00024-6</a:t>
            </a:r>
          </a:p>
          <a:p>
            <a:r>
              <a:t>https://doi.org/10.1111/j.1540-6261.2008.01312.x</a:t>
            </a:r>
          </a:p>
          <a:p>
            <a:r>
              <a:t>https://www.bis.org/cpmi/publ/d101a.pdf</a:t>
            </a:r>
          </a:p>
          <a:p>
            <a:r>
              <a:t>https://kase.kz/files/reports/KASE_meeting_2024_eng.pdf</a:t>
            </a:r>
          </a:p>
          <a:p>
            <a:r>
              <a:t>https://kase.kz/en/information/news/show/1544033</a:t>
            </a:r>
          </a:p>
          <a:p>
            <a:r>
              <a:t>https://nationalbank.kz/ru/news/press-relizy/20266</a:t>
            </a:r>
          </a:p>
          <a:p>
            <a:r>
              <a:t>https://nationalbank.kz/ru/news/informacionnye-soobshcheniya/20360</a:t>
            </a:r>
          </a:p>
          <a:p>
            <a:r>
              <a:t>https://nationalbank.kz/en/news/informacionnye-soobshcheniya/19799</a:t>
            </a:r>
          </a:p>
          <a:p>
            <a:r>
              <a:t>https://kase.kz/en/information/news/show/1574002</a:t>
            </a:r>
          </a:p>
          <a:p>
            <a:r>
              <a:t>https://kase.kz/ru/information/news/show/1577752</a:t>
            </a:r>
          </a:p>
          <a:p>
            <a:r>
              <a:t>https://kase.kz/ru/information/news/show/1577739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выступления: ровно 5 слайдов, общий титульный отдельно. Срез: 16.10.2026.</a:t>
            </a:r>
          </a:p>
          <a:p>
            <a:r>
              <a:t>Источники:</a:t>
            </a:r>
          </a:p>
          <a:p>
            <a:r>
              <a:t>https://kase.kz/files/reports/Annual_report_2025.pdf</a:t>
            </a:r>
          </a:p>
          <a:p>
            <a:r>
              <a:t>https://kase.kz/files/reports/KASE_meeting_2023_en.pdf</a:t>
            </a:r>
          </a:p>
          <a:p>
            <a:r>
              <a:t>https://kase.kz/uploads/kasef6_2024_cons_0b310589ea.pdf</a:t>
            </a:r>
          </a:p>
          <a:p>
            <a:r>
              <a:t>https://kase.kz/ru/about/stockholders</a:t>
            </a:r>
          </a:p>
          <a:p>
            <a:r>
              <a:t>https://kase.kz/en/about/management</a:t>
            </a:r>
          </a:p>
          <a:p>
            <a:r>
              <a:t>https://kase.kz/ru/information/news/show/1572362</a:t>
            </a:r>
          </a:p>
          <a:p>
            <a:r>
              <a:t>https://kase.kz/en/media-center/events/ltor268etv7q7gcorbzoxwt1</a:t>
            </a:r>
          </a:p>
          <a:p>
            <a:r>
              <a:t>https://kase.kz/ru/information/news/show/1571365</a:t>
            </a:r>
          </a:p>
          <a:p>
            <a:r>
              <a:t>https://kase.kz/en/information/news/show/1548644</a:t>
            </a:r>
          </a:p>
          <a:p>
            <a:r>
              <a:t>https://kase.kz/ru/about/committees-and-commissions</a:t>
            </a:r>
          </a:p>
          <a:p>
            <a:r>
              <a:t>https://kase.kz/kz/information/news/show/1561424</a:t>
            </a:r>
          </a:p>
          <a:p>
            <a:r>
              <a:t>https://kase.kz/ru/information/news/show/1538714/</a:t>
            </a:r>
          </a:p>
          <a:p>
            <a:r>
              <a:t>https://kase.kz/ru/information/news/show/1530627/</a:t>
            </a:r>
          </a:p>
          <a:p>
            <a:r>
              <a:t>https://home.treasury.gov/news/press-releases/jy2404</a:t>
            </a:r>
          </a:p>
          <a:p>
            <a:r>
              <a:t>https://kapital.kz/finance/130606/alina-aldambergen-my-ne-znayem-na-kakikh-usloviyakh-mosbirzha-prodala-svoi-aktsii.html</a:t>
            </a:r>
          </a:p>
          <a:p>
            <a:r>
              <a:t>https://kapital.kz/finance/122407/alina-aldambergen-za-5-let-chistaya-pribyl-kase-vyrosla-v-9-raz.html</a:t>
            </a:r>
          </a:p>
          <a:p>
            <a:r>
              <a:t>https://kapital.kz/finance/128108/novyy-kholding-po-razvitiyu-fondovogo-rynka-mozhet-poyavit-sya-v-kazakhstane.html</a:t>
            </a:r>
          </a:p>
          <a:p>
            <a:r>
              <a:t>https://forbes.kz/articles/zachem-kase-prisvoili-status-operatora-tsifrovyh-aktivov/amp</a:t>
            </a:r>
          </a:p>
          <a:p>
            <a:r>
              <a:t>https://forbes.kz/articles/kogda-na-kase-poyavitsya-vozmozhnost-torgovat-tokenami-d6a8bc/amp</a:t>
            </a:r>
          </a:p>
          <a:p>
            <a:r>
              <a:t>https://kz.kursiv.media/2026-06-24/fvfv-pravlenie-kase-zarabotalo-394-mln-tenge-eto-72-goda-raboty-obychnogo-kazahstanca/</a:t>
            </a:r>
          </a:p>
          <a:p>
            <a:r>
              <a:t>https://tengrinews.kz/money/natsbank-nazval-razmer-premiy-iz-za-kotoryih-oshtrafovali-604714/amp/</a:t>
            </a:r>
          </a:p>
          <a:p>
            <a:r>
              <a:t>https://orda.kz/v-nacbanke-prokommentirovali-shtraf-za-premii-sotrudnikam-417144/</a:t>
            </a:r>
          </a:p>
          <a:p>
            <a:r>
              <a:t>https://forbes.kz/articles/v-pravlenii-kase-proizoshli-izmeneniya-a87929</a:t>
            </a:r>
          </a:p>
          <a:p>
            <a:r>
              <a:t>https://www.reuters.com/markets/europe/moscow-exchange-stop-trading-dollars-after-latest-us-sanctions-2024-06-12/</a:t>
            </a:r>
          </a:p>
          <a:p>
            <a:r>
              <a:t>https://doi.org/10.1016/S1386-4181(01)00024-6</a:t>
            </a:r>
          </a:p>
          <a:p>
            <a:r>
              <a:t>https://doi.org/10.1111/j.1540-6261.2008.01312.x</a:t>
            </a:r>
          </a:p>
          <a:p>
            <a:r>
              <a:t>https://www.bis.org/cpmi/publ/d101a.pdf</a:t>
            </a:r>
          </a:p>
          <a:p>
            <a:r>
              <a:t>https://kase.kz/files/reports/KASE_meeting_2024_eng.pdf</a:t>
            </a:r>
          </a:p>
          <a:p>
            <a:r>
              <a:t>https://kase.kz/en/information/news/show/1544033</a:t>
            </a:r>
          </a:p>
          <a:p>
            <a:r>
              <a:t>https://nationalbank.kz/ru/news/press-relizy/20266</a:t>
            </a:r>
          </a:p>
          <a:p>
            <a:r>
              <a:t>https://nationalbank.kz/ru/news/informacionnye-soobshcheniya/20360</a:t>
            </a:r>
          </a:p>
          <a:p>
            <a:r>
              <a:t>https://nationalbank.kz/en/news/informacionnye-soobshcheniya/19799</a:t>
            </a:r>
          </a:p>
          <a:p>
            <a:r>
              <a:t>https://kase.kz/en/information/news/show/1574002</a:t>
            </a:r>
          </a:p>
          <a:p>
            <a:r>
              <a:t>https://kase.kz/ru/information/news/show/1577752</a:t>
            </a:r>
          </a:p>
          <a:p>
            <a:r>
              <a:t>https://kase.kz/ru/information/news/show/1577739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выступления: ровно 5 слайдов, общий титульный отдельно. Срез: 16.10.2026.</a:t>
            </a:r>
          </a:p>
          <a:p>
            <a:r>
              <a:t>Источники:</a:t>
            </a:r>
          </a:p>
          <a:p>
            <a:r>
              <a:t>https://kase.kz/files/reports/Annual_report_2025.pdf</a:t>
            </a:r>
          </a:p>
          <a:p>
            <a:r>
              <a:t>https://kase.kz/files/reports/KASE_meeting_2023_en.pdf</a:t>
            </a:r>
          </a:p>
          <a:p>
            <a:r>
              <a:t>https://kase.kz/uploads/kasef6_2024_cons_0b310589ea.pdf</a:t>
            </a:r>
          </a:p>
          <a:p>
            <a:r>
              <a:t>https://kase.kz/ru/about/stockholders</a:t>
            </a:r>
          </a:p>
          <a:p>
            <a:r>
              <a:t>https://kase.kz/en/about/management</a:t>
            </a:r>
          </a:p>
          <a:p>
            <a:r>
              <a:t>https://kase.kz/ru/information/news/show/1572362</a:t>
            </a:r>
          </a:p>
          <a:p>
            <a:r>
              <a:t>https://kase.kz/en/media-center/events/ltor268etv7q7gcorbzoxwt1</a:t>
            </a:r>
          </a:p>
          <a:p>
            <a:r>
              <a:t>https://kase.kz/ru/information/news/show/1571365</a:t>
            </a:r>
          </a:p>
          <a:p>
            <a:r>
              <a:t>https://kase.kz/en/information/news/show/1548644</a:t>
            </a:r>
          </a:p>
          <a:p>
            <a:r>
              <a:t>https://kase.kz/ru/about/committees-and-commissions</a:t>
            </a:r>
          </a:p>
          <a:p>
            <a:r>
              <a:t>https://kase.kz/kz/information/news/show/1561424</a:t>
            </a:r>
          </a:p>
          <a:p>
            <a:r>
              <a:t>https://kase.kz/ru/information/news/show/1538714/</a:t>
            </a:r>
          </a:p>
          <a:p>
            <a:r>
              <a:t>https://kase.kz/ru/information/news/show/1530627/</a:t>
            </a:r>
          </a:p>
          <a:p>
            <a:r>
              <a:t>https://home.treasury.gov/news/press-releases/jy2404</a:t>
            </a:r>
          </a:p>
          <a:p>
            <a:r>
              <a:t>https://kapital.kz/finance/130606/alina-aldambergen-my-ne-znayem-na-kakikh-usloviyakh-mosbirzha-prodala-svoi-aktsii.html</a:t>
            </a:r>
          </a:p>
          <a:p>
            <a:r>
              <a:t>https://kapital.kz/finance/122407/alina-aldambergen-za-5-let-chistaya-pribyl-kase-vyrosla-v-9-raz.html</a:t>
            </a:r>
          </a:p>
          <a:p>
            <a:r>
              <a:t>https://kapital.kz/finance/128108/novyy-kholding-po-razvitiyu-fondovogo-rynka-mozhet-poyavit-sya-v-kazakhstane.html</a:t>
            </a:r>
          </a:p>
          <a:p>
            <a:r>
              <a:t>https://forbes.kz/articles/zachem-kase-prisvoili-status-operatora-tsifrovyh-aktivov/amp</a:t>
            </a:r>
          </a:p>
          <a:p>
            <a:r>
              <a:t>https://forbes.kz/articles/kogda-na-kase-poyavitsya-vozmozhnost-torgovat-tokenami-d6a8bc/amp</a:t>
            </a:r>
          </a:p>
          <a:p>
            <a:r>
              <a:t>https://kz.kursiv.media/2026-06-24/fvfv-pravlenie-kase-zarabotalo-394-mln-tenge-eto-72-goda-raboty-obychnogo-kazahstanca/</a:t>
            </a:r>
          </a:p>
          <a:p>
            <a:r>
              <a:t>https://tengrinews.kz/money/natsbank-nazval-razmer-premiy-iz-za-kotoryih-oshtrafovali-604714/amp/</a:t>
            </a:r>
          </a:p>
          <a:p>
            <a:r>
              <a:t>https://orda.kz/v-nacbanke-prokommentirovali-shtraf-za-premii-sotrudnikam-417144/</a:t>
            </a:r>
          </a:p>
          <a:p>
            <a:r>
              <a:t>https://forbes.kz/articles/v-pravlenii-kase-proizoshli-izmeneniya-a87929</a:t>
            </a:r>
          </a:p>
          <a:p>
            <a:r>
              <a:t>https://www.reuters.com/markets/europe/moscow-exchange-stop-trading-dollars-after-latest-us-sanctions-2024-06-12/</a:t>
            </a:r>
          </a:p>
          <a:p>
            <a:r>
              <a:t>https://doi.org/10.1016/S1386-4181(01)00024-6</a:t>
            </a:r>
          </a:p>
          <a:p>
            <a:r>
              <a:t>https://doi.org/10.1111/j.1540-6261.2008.01312.x</a:t>
            </a:r>
          </a:p>
          <a:p>
            <a:r>
              <a:t>https://www.bis.org/cpmi/publ/d101a.pdf</a:t>
            </a:r>
          </a:p>
          <a:p>
            <a:r>
              <a:t>https://kase.kz/files/reports/KASE_meeting_2024_eng.pdf</a:t>
            </a:r>
          </a:p>
          <a:p>
            <a:r>
              <a:t>https://kase.kz/en/information/news/show/1544033</a:t>
            </a:r>
          </a:p>
          <a:p>
            <a:r>
              <a:t>https://nationalbank.kz/ru/news/press-relizy/20266</a:t>
            </a:r>
          </a:p>
          <a:p>
            <a:r>
              <a:t>https://nationalbank.kz/ru/news/informacionnye-soobshcheniya/20360</a:t>
            </a:r>
          </a:p>
          <a:p>
            <a:r>
              <a:t>https://nationalbank.kz/en/news/informacionnye-soobshcheniya/19799</a:t>
            </a:r>
          </a:p>
          <a:p>
            <a:r>
              <a:t>https://kase.kz/en/information/news/show/1574002</a:t>
            </a:r>
          </a:p>
          <a:p>
            <a:r>
              <a:t>https://kase.kz/ru/information/news/show/1577752</a:t>
            </a:r>
          </a:p>
          <a:p>
            <a:r>
              <a:t>https://kase.kz/ru/information/news/show/1577739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Часть выступления: ровно 5 слайдов, общий титульный отдельно. Срез: 16.10.2026.</a:t>
            </a:r>
          </a:p>
          <a:p>
            <a:r>
              <a:t>Источники:</a:t>
            </a:r>
          </a:p>
          <a:p>
            <a:r>
              <a:t>https://kase.kz/files/reports/Annual_report_2025.pdf</a:t>
            </a:r>
          </a:p>
          <a:p>
            <a:r>
              <a:t>https://kase.kz/files/reports/KASE_meeting_2023_en.pdf</a:t>
            </a:r>
          </a:p>
          <a:p>
            <a:r>
              <a:t>https://kase.kz/uploads/kasef6_2024_cons_0b310589ea.pdf</a:t>
            </a:r>
          </a:p>
          <a:p>
            <a:r>
              <a:t>https://kase.kz/ru/about/stockholders</a:t>
            </a:r>
          </a:p>
          <a:p>
            <a:r>
              <a:t>https://kase.kz/en/about/management</a:t>
            </a:r>
          </a:p>
          <a:p>
            <a:r>
              <a:t>https://kase.kz/ru/information/news/show/1572362</a:t>
            </a:r>
          </a:p>
          <a:p>
            <a:r>
              <a:t>https://kase.kz/en/media-center/events/ltor268etv7q7gcorbzoxwt1</a:t>
            </a:r>
          </a:p>
          <a:p>
            <a:r>
              <a:t>https://kase.kz/ru/information/news/show/1571365</a:t>
            </a:r>
          </a:p>
          <a:p>
            <a:r>
              <a:t>https://kase.kz/en/information/news/show/1548644</a:t>
            </a:r>
          </a:p>
          <a:p>
            <a:r>
              <a:t>https://kase.kz/ru/about/committees-and-commissions</a:t>
            </a:r>
          </a:p>
          <a:p>
            <a:r>
              <a:t>https://kase.kz/kz/information/news/show/1561424</a:t>
            </a:r>
          </a:p>
          <a:p>
            <a:r>
              <a:t>https://kase.kz/ru/information/news/show/1538714/</a:t>
            </a:r>
          </a:p>
          <a:p>
            <a:r>
              <a:t>https://kase.kz/ru/information/news/show/1530627/</a:t>
            </a:r>
          </a:p>
          <a:p>
            <a:r>
              <a:t>https://home.treasury.gov/news/press-releases/jy2404</a:t>
            </a:r>
          </a:p>
          <a:p>
            <a:r>
              <a:t>https://kapital.kz/finance/130606/alina-aldambergen-my-ne-znayem-na-kakikh-usloviyakh-mosbirzha-prodala-svoi-aktsii.html</a:t>
            </a:r>
          </a:p>
          <a:p>
            <a:r>
              <a:t>https://kapital.kz/finance/122407/alina-aldambergen-za-5-let-chistaya-pribyl-kase-vyrosla-v-9-raz.html</a:t>
            </a:r>
          </a:p>
          <a:p>
            <a:r>
              <a:t>https://kapital.kz/finance/128108/novyy-kholding-po-razvitiyu-fondovogo-rynka-mozhet-poyavit-sya-v-kazakhstane.html</a:t>
            </a:r>
          </a:p>
          <a:p>
            <a:r>
              <a:t>https://forbes.kz/articles/zachem-kase-prisvoili-status-operatora-tsifrovyh-aktivov/amp</a:t>
            </a:r>
          </a:p>
          <a:p>
            <a:r>
              <a:t>https://forbes.kz/articles/kogda-na-kase-poyavitsya-vozmozhnost-torgovat-tokenami-d6a8bc/amp</a:t>
            </a:r>
          </a:p>
          <a:p>
            <a:r>
              <a:t>https://kz.kursiv.media/2026-06-24/fvfv-pravlenie-kase-zarabotalo-394-mln-tenge-eto-72-goda-raboty-obychnogo-kazahstanca/</a:t>
            </a:r>
          </a:p>
          <a:p>
            <a:r>
              <a:t>https://tengrinews.kz/money/natsbank-nazval-razmer-premiy-iz-za-kotoryih-oshtrafovali-604714/amp/</a:t>
            </a:r>
          </a:p>
          <a:p>
            <a:r>
              <a:t>https://orda.kz/v-nacbanke-prokommentirovali-shtraf-za-premii-sotrudnikam-417144/</a:t>
            </a:r>
          </a:p>
          <a:p>
            <a:r>
              <a:t>https://forbes.kz/articles/v-pravlenii-kase-proizoshli-izmeneniya-a87929</a:t>
            </a:r>
          </a:p>
          <a:p>
            <a:r>
              <a:t>https://www.reuters.com/markets/europe/moscow-exchange-stop-trading-dollars-after-latest-us-sanctions-2024-06-12/</a:t>
            </a:r>
          </a:p>
          <a:p>
            <a:r>
              <a:t>https://doi.org/10.1016/S1386-4181(01)00024-6</a:t>
            </a:r>
          </a:p>
          <a:p>
            <a:r>
              <a:t>https://doi.org/10.1111/j.1540-6261.2008.01312.x</a:t>
            </a:r>
          </a:p>
          <a:p>
            <a:r>
              <a:t>https://www.bis.org/cpmi/publ/d101a.pdf</a:t>
            </a:r>
          </a:p>
          <a:p>
            <a:r>
              <a:t>https://kase.kz/files/reports/KASE_meeting_2024_eng.pdf</a:t>
            </a:r>
          </a:p>
          <a:p>
            <a:r>
              <a:t>https://kase.kz/en/information/news/show/1544033</a:t>
            </a:r>
          </a:p>
          <a:p>
            <a:r>
              <a:t>https://nationalbank.kz/ru/news/press-relizy/20266</a:t>
            </a:r>
          </a:p>
          <a:p>
            <a:r>
              <a:t>https://nationalbank.kz/ru/news/informacionnye-soobshcheniya/20360</a:t>
            </a:r>
          </a:p>
          <a:p>
            <a:r>
              <a:t>https://nationalbank.kz/en/news/informacionnye-soobshcheniya/19799</a:t>
            </a:r>
          </a:p>
          <a:p>
            <a:r>
              <a:t>https://kase.kz/en/information/news/show/1574002</a:t>
            </a:r>
          </a:p>
          <a:p>
            <a:r>
              <a:t>https://kase.kz/ru/information/news/show/1577752</a:t>
            </a:r>
          </a:p>
          <a:p>
            <a:r>
              <a:t>https://kase.kz/ru/information/news/show/1577739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457200"/>
            <a:ext cx="1554480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rial"/>
              </a:defRPr>
            </a:pPr>
            <a:r>
              <a:t>KASE: компания, сектор и сегменты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508760"/>
            <a:ext cx="16002000" cy="2286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39159" y="182880"/>
            <a:ext cx="18288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C0033"/>
                </a:solidFill>
                <a:latin typeface="Arial"/>
              </a:defRPr>
            </a:pPr>
            <a:r>
              <a:t>JSC KASE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555480"/>
            <a:ext cx="160020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Источники: годовой отчёт KASE 2025; KASE, 13.10.2026: 1577752, 1577750, 1577748. Срез: 16.10.2026.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1554480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CC0033"/>
                </a:solidFill>
                <a:latin typeface="Arial"/>
              </a:defRPr>
            </a:pPr>
            <a:r>
              <a:t>Основана в 1993 году. Финансовый сектор → инфраструктура рынка → биржевые и постторговые услуги.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337560"/>
            <a:ext cx="5029200" cy="5166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520440"/>
            <a:ext cx="45720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Что делает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43400"/>
            <a:ext cx="457200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Организует торги валютой, ценными бумагами и денежными инструментами.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Клиенты: банки, брокеры и эмитенты. Основной конкурент за листинги — AIX.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337560"/>
            <a:ext cx="5029200" cy="5166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20440"/>
            <a:ext cx="45720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Сегменты торгов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343400"/>
            <a:ext cx="457200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За 9М 2026: 397,6 трлн ₸.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Денежный рынок — 83,4%.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Валютный спот — 12,9%.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Прочие сегменты — 3,8%.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Доли рассчитаны; округление.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3337560"/>
            <a:ext cx="5029200" cy="5166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32920" y="3520440"/>
            <a:ext cx="45720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Как зарабатывает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32920" y="4343400"/>
            <a:ext cx="457200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Комиссии: торги, клиринг, листинг и услуги.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Процентный доход от допустимого размещения ликвидности.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KACC — отдельный клиринговый центр группы.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0" y="9555480"/>
            <a:ext cx="4572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CC0033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457200"/>
            <a:ext cx="1554480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rial"/>
              </a:defRPr>
            </a:pPr>
            <a:r>
              <a:t>Казахстан: макроиндикаторы и рейтинг страны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508760"/>
            <a:ext cx="16002000" cy="2286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39159" y="182880"/>
            <a:ext cx="18288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C0033"/>
                </a:solidFill>
                <a:latin typeface="Arial"/>
              </a:defRPr>
            </a:pPr>
            <a:r>
              <a:t>JSC KASE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555480"/>
            <a:ext cx="160020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Источники: НБК (20266, 20360, 19799); БНС, сентябрь 2026; Правительство РК, 13.10.2026; KASE, 1574002.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7589520" cy="4937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194560"/>
            <a:ext cx="713232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Макроэкономика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7132320" cy="3840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16,25% — базовая ставка НБК.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9,3% — годовая инфляция, сентябрь 2026.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+4,2% — реальный рост ВВП за 9М 2026, г/г.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Периоды показателей различаются; срез — 16.10.2026.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011680"/>
            <a:ext cx="7589520" cy="4937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94560"/>
            <a:ext cx="713232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Суверенные рейтинги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017520"/>
            <a:ext cx="7132320" cy="3840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Moody’s: Baa1 — 29.09.2026.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S&amp;P: BBB / A-2 — 21.08.2026.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Fitch: BBB — июнь 2026.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Прогнозы стабильные; инвестиционная категория. Рейтинги относятся к государству.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7406640"/>
            <a:ext cx="15544800" cy="1645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242424"/>
                </a:solidFill>
                <a:latin typeface="Arial"/>
              </a:defRPr>
            </a:pPr>
            <a:r>
              <a:t>Влияние на KASE: высокая ставка поддерживает процентный доход, но повышает стоимость финансирования эмитентов. Страновой риск влияет на доступ к капиталу.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0" y="9555480"/>
            <a:ext cx="4572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CC003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457200"/>
            <a:ext cx="1554480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rial"/>
              </a:defRPr>
            </a:pPr>
            <a:r>
              <a:t>Руководство KASE: нынешние и бывший руководитель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508760"/>
            <a:ext cx="16002000" cy="2286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39159" y="182880"/>
            <a:ext cx="18288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C0033"/>
                </a:solidFill>
                <a:latin typeface="Arial"/>
              </a:defRPr>
            </a:pPr>
            <a:r>
              <a:t>JSC KASE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555480"/>
            <a:ext cx="160020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Фото: предоставленный Word, снимки KASE. Даты: KASE 1538714, 1538708, 1514628, 1572362; отчёт за 2022 год.</a:t>
            </a:r>
          </a:p>
        </p:txBody>
      </p:sp>
      <p:pic>
        <p:nvPicPr>
          <p:cNvPr id="7" name="Picture 6" descr="docx_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965960"/>
            <a:ext cx="3889612" cy="2743200"/>
          </a:xfrm>
          <a:prstGeom prst="rect">
            <a:avLst/>
          </a:prstGeom>
        </p:spPr>
      </p:pic>
      <p:pic>
        <p:nvPicPr>
          <p:cNvPr id="8" name="Picture 7" descr="docx_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965960"/>
            <a:ext cx="1873405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4892040"/>
            <a:ext cx="365760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CC0033"/>
                </a:solidFill>
                <a:latin typeface="Arial"/>
              </a:defRPr>
            </a:pPr>
            <a:r>
              <a:t>Алия Молдабекова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715000"/>
            <a:ext cx="3657600" cy="3291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42424"/>
                </a:solidFill>
                <a:latin typeface="Arial"/>
              </a:defRPr>
            </a:pPr>
            <a:r>
              <a:t>Нынешний председатель Совета директоров.</a:t>
            </a:r>
          </a:p>
          <a:p>
            <a:pPr>
              <a:spcAft>
                <a:spcPts val="1200"/>
              </a:spcAft>
              <a:defRPr sz="2100" b="0">
                <a:solidFill>
                  <a:srgbClr val="242424"/>
                </a:solidFill>
                <a:latin typeface="Arial"/>
              </a:defRPr>
            </a:pPr>
            <a:r>
              <a:t>С января 2020 года; переизбрана в мае 2021 года.</a:t>
            </a:r>
          </a:p>
          <a:p>
            <a:pPr>
              <a:spcAft>
                <a:spcPts val="1200"/>
              </a:spcAft>
              <a:defRPr sz="2100" b="0">
                <a:solidFill>
                  <a:srgbClr val="242424"/>
                </a:solidFill>
                <a:latin typeface="Arial"/>
              </a:defRPr>
            </a:pPr>
            <a:r>
              <a:t>Представитель НБК: стратегический надзор.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892040"/>
            <a:ext cx="365760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CC0033"/>
                </a:solidFill>
                <a:latin typeface="Arial"/>
              </a:defRPr>
            </a:pPr>
            <a:r>
              <a:t>Адиль Мухамеджанов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715000"/>
            <a:ext cx="3657600" cy="3291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42424"/>
                </a:solidFill>
                <a:latin typeface="Arial"/>
              </a:defRPr>
            </a:pPr>
            <a:r>
              <a:t>Нынешний глава Правления с 31.03.2025.</a:t>
            </a:r>
          </a:p>
          <a:p>
            <a:pPr>
              <a:spcAft>
                <a:spcPts val="1200"/>
              </a:spcAft>
              <a:defRPr sz="2100" b="0">
                <a:solidFill>
                  <a:srgbClr val="242424"/>
                </a:solidFill>
                <a:latin typeface="Arial"/>
              </a:defRPr>
            </a:pPr>
            <a:r>
              <a:t>Ранее: зампред KASE с 2020 года; с 2021 года возглавлял Центральный депозитарий.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011680"/>
            <a:ext cx="740664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194560"/>
            <a:ext cx="6949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Дана Аманжолова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017520"/>
            <a:ext cx="6949440" cy="21945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Нынешний зампред с 22.01.2024. В KASE с 2019 года; член Правления с 08.08.2023.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5577840"/>
            <a:ext cx="740664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5760720"/>
            <a:ext cx="6949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Алина Алдамберген — бывшая глава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6583679"/>
            <a:ext cx="6949440" cy="21945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Председатель Правления: 09.02.2016–31.03.2025. Ушла по собственной инициативе; её сменил Адиль Мухамеджанов.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0" y="9555480"/>
            <a:ext cx="4572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CC003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457200"/>
            <a:ext cx="1554480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rial"/>
              </a:defRPr>
            </a:pPr>
            <a:r>
              <a:t>Управление активами и рейтинги KASE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508760"/>
            <a:ext cx="16002000" cy="2286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39159" y="182880"/>
            <a:ext cx="18288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C0033"/>
                </a:solidFill>
                <a:latin typeface="Arial"/>
              </a:defRPr>
            </a:pPr>
            <a:r>
              <a:t>JSC KASE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555480"/>
            <a:ext cx="160020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Источники: Word, таблицы 6–8; годовой отчёт KASE 2025; KACC/KASE, 20.07.2026, 1571365. Данные округлены.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7589520" cy="6309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194560"/>
            <a:ext cx="713232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Активы и ликвидность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7132320" cy="5212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На конец 2025 года активы — около 6,0 трлн ₸.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93,6% — позиции центрального контрагента с сопоставимыми обязательствами.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Остаток 384,9 млрд ₸ не равен свободным средствам акционеров: есть обеспечение участников.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Размещение: деньги, обратное репо и бумаги.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011680"/>
            <a:ext cx="7589520" cy="6309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94560"/>
            <a:ext cx="713232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Рейтинг относится к KACC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017520"/>
            <a:ext cx="7132320" cy="5212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Fitch: BBB− — долгосрочный рейтинг дефолта эмитента.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BBB− — рейтинг в национальной валюте.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AA+(kaz) — национальная шкала.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Прогноз: стабильный.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Отдельный рейтинг Fitch материнской KASE в проверенных источниках не установлен.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8549640"/>
            <a:ext cx="15544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CC0033"/>
                </a:solidFill>
                <a:latin typeface="Arial"/>
              </a:defRPr>
            </a:pPr>
            <a:r>
              <a:t>Ключевой риск: около 61% операционного дохода 2025 года — проценты; результат чувствителен к доходности и объёму размещённых ресурсов.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0" y="9555480"/>
            <a:ext cx="4572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CC003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457200"/>
            <a:ext cx="1554480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rial"/>
              </a:defRPr>
            </a:pPr>
            <a:r>
              <a:t>KASE в СМИ: новости и интервью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508760"/>
            <a:ext cx="16002000" cy="2286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39159" y="182880"/>
            <a:ext cx="18288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C0033"/>
                </a:solidFill>
                <a:latin typeface="Arial"/>
              </a:defRPr>
            </a:pPr>
            <a:r>
              <a:t>JSC KASE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555480"/>
            <a:ext cx="160020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Источники: KASE, 13.10.2026: 1577752, 1577739; Forbes.kz, 22.05.2026; Kapital.kz, 18.01.2024, 16.10.2024; Kursiv, 24.06.2026.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5029200" cy="6492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194560"/>
            <a:ext cx="45720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Последние новости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4572000" cy="53949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13.10.2026: оборот KASE за 9М 2026 — 397,6 трлн ₸, +43,0% г/г.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Корпоративные облигации: 5,5 трлн ₸, +45,7% г/г.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Оборот рынка — отдельный показатель от выручки KASE.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029200" cy="6492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5720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Голоса руководителей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017520"/>
            <a:ext cx="4572000" cy="53949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Алдамберген, Kapital.kz, 18.01.2024: рост прибыли и модернизация.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Мухамеджанов, Forbes.kz, 22.05.2026: цифровые активы, управление счетами и прямые сделки.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Тезисы пересказаны; планы требуют проверки по результатам.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0" y="2011680"/>
            <a:ext cx="5029200" cy="6492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32920" y="2194560"/>
            <a:ext cx="45720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CC0033"/>
                </a:solidFill>
                <a:latin typeface="Arial"/>
              </a:defRPr>
            </a:pPr>
            <a:r>
              <a:t>Освещение в СМИ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32920" y="3017520"/>
            <a:ext cx="4572000" cy="53949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Kapital.kz, 16.10.2024: выход MOEX и права на ПО.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Kursiv, 24.06.2026: вопросы вознаграждения Правления.</a:t>
            </a: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42424"/>
                </a:solidFill>
                <a:latin typeface="Arial"/>
              </a:defRPr>
            </a:pPr>
            <a:r>
              <a:t>Основные темы: цифровизация, прозрачность и устойчивость инфраструктуры.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0" y="9555480"/>
            <a:ext cx="4572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CC003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DAG7LO9xL0w</dc:identifier>
  <dcterms:modified xsi:type="dcterms:W3CDTF">2011-08-01T06:04:30Z</dcterms:modified>
  <cp:revision>1</cp:revision>
  <dc:title>POOL CORPORATION</dc:title>
</cp:coreProperties>
</file>